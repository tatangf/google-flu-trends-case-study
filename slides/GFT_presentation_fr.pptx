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73166" autoAdjust="0"/>
  </p:normalViewPr>
  <p:slideViewPr>
    <p:cSldViewPr snapToGrid="0" snapToObjects="1">
      <p:cViewPr varScale="1">
        <p:scale>
          <a:sx n="36" d="100"/>
          <a:sy n="36" d="100"/>
        </p:scale>
        <p:origin x="1312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6324F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6324F"/>
                </a:solidFill>
                <a:latin typeface="Arial"/>
              </a:rPr>
              <a:t>Erreur moyenne absolue (MAE), 30 graines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Type GFT (statique)</c:v>
                </c:pt>
              </c:strCache>
            </c:strRef>
          </c:tx>
          <c:spPr>
            <a:solidFill>
              <a:srgbClr val="D9482B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Test complet</c:v>
                </c:pt>
                <c:pt idx="1">
                  <c:v>Fenêtre épidémie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0.14000000000000001</c:v>
                </c:pt>
                <c:pt idx="1">
                  <c:v>0.40899999999999997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6F8-422D-870D-A839F431F3D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Valeur d’il y a 2 sem.</c:v>
                </c:pt>
              </c:strCache>
            </c:strRef>
          </c:tx>
          <c:spPr>
            <a:solidFill>
              <a:srgbClr val="5B6B7B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Test complet</c:v>
                </c:pt>
                <c:pt idx="1">
                  <c:v>Fenêtre épidémie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0.126</c:v>
                </c:pt>
                <c:pt idx="1">
                  <c:v>0.20799999999999999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6F8-422D-870D-A839F431F3D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GFT + CDC retardé, recalibré</c:v>
                </c:pt>
              </c:strCache>
            </c:strRef>
          </c:tx>
          <c:spPr>
            <a:solidFill>
              <a:srgbClr val="1F8A7D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Test complet</c:v>
                </c:pt>
                <c:pt idx="1">
                  <c:v>Fenêtre épidémie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9.9000000000000005E-2</c:v>
                </c:pt>
                <c:pt idx="1">
                  <c:v>0.254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6F8-422D-870D-A839F431F3D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6324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5"/>
        </c:scaling>
        <c:delete val="0"/>
        <c:axPos val="l"/>
        <c:majorGridlines>
          <c:spPr>
            <a:ln w="6350" cap="flat">
              <a:solidFill>
                <a:srgbClr val="E1E7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96221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[≈1 min] Accroche : en 2009 Google publie dans Nature un modèle qui prédit la grippe avec une corrélation de 0,97. En 2012-2013 il surestime environ du double. Personne ne trichait. Ma question : à quelle étape exacte l'analyse a-t-elle déraillé ? Plan : le modèle, l'échec, l'étape fautive, une démo, la checklist.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[≈2 min] Le CDC publie avec 1-2 semaines de retard ; les requêtes Google sont disponibles en quasi temps réel. Modèle : régression linéaire sur logit (transformation qui ramène une proportion dans un domaine non borné). Une seule variable Q = somme des 45 meilleures requêtes. Insister : le modèle est simple, la sélection des 45 parmi 50 millions est l'étape qui compte. Résultats 2009 : corrélation 0,90 en entraînement, 0,97 sur 42 semaines de validation. Les auteurs mettaient déjà en garde contre paniques médiatiques et fausses alertes.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[≈2 min] Deux échecs distincts. 2009 : la pandémie H1N1 arrive hors saison, le modèle (qui avait appris l'hiver) la rate ; Google révise l'algorithme en septembre 2009. 2012-13 : surestimation persistante depuis l'été 2011. Le supplément Science (Lazer et al.) relie cela aux changements du moteur : recherches associées (juin 2011), boîte de recherche santé (février 2012), fiches médicaments (nov. 2012), géolocalisation (juillet 2011). Ils parlent de « blue team dynamics » : Google modifie le comportement qu'il mesure. Prudence : sans les 45 requêtes, ce sont des explications PROBABLES. Nuance : l'explication « panique médiatique » est contestée : les recherches « flu » ont culminé en 2009, et seuls quelques termes précis ont monté en 2012-13. Chiffres « ≈ double » et arrêt 2015 : viennent de Butler (Nature 2013) et de ma connaissance générale, pas des fichiers fournis : à vérifier avant l'oral.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[≈3 min] C'est LA réponse à la consigne : l'étape est la sélection automatique des requêtes par corrélation. Chaque requête est ajustée seule, on garde les meilleures (transformation de Fisher, validation croisée 4 plis), N=45 choisi sur des données hors échantillon. 450 millions de modèles. Le risque : problème des comparaisons multiples. Attention à la nuance : la validation hors échantillon de 2009 existait (0,97), donc l'erreur n'est pas « pas de test » ; c'est un test sur une période courte (42 semaines) qui ne peut pas révéler une dérive ultérieure ni distinguer « grippe » de « saison d'hiver ». Indice : basketball lycée dans le top 100, les auteurs le savaient. Lazer et al. n'ont pas pu retrouver les 45 requêtes : reproductibilité impossible.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[≈4 min, démo live du notebook gft_simulation_v2.ipynb, ~30 s d'exécution] 1) Montrer la courbe « max de corrélation d'une série de pur bruit » : elle monte avec le nombre de candidats (0,31 pour 10, 0,56 pour 50 000). 2) Montrer l'histogramme : les requêtes « hiver » (sans lien avec la grippe) corrèlent davantage que le bruit ; le top 20 contient en moyenne 4,4 vraies requêtes grippales sur 20 et 0 bruit pur (honnêteté : dans ma simulation c'est la saisonnalité, pas le bruit, qui contamine). 3) Graphique de prédiction : le modèle statique rate l'épidémie estivale. 4) Le tableau 30 graines : corrélation 0,89 mais MAE 0,140 contre 0,126 pour la valeur d'il y a 2 semaines (pire dans 25/30 graines). Le recalibré est meilleur sur l'ensemble du test (30/30) mais PAS sur la fenêtre épidémie (0,254 contre 0,208) : le dire. 5) Dérive : x1,0 → MAE 0,103 ; x1,5 → 0,142 ; x2 → 0,234, le recalibré reste ~0,09-0,10. Limite : la dérive est une hypothèse, pas une preuve.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[≈2 min] Ce sont les vérifications concrètes. Chiffres 0,486 / 0,412 / 0,303 : supplément Science §6, lag de 3 semaines. Le réseau de neurones testé par Lazer et al. (MAE 0,236-0,249) ne fait pas mieux que le linéaire : le problème n'était pas la forme du modèle mais la stabilité de la relation.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[≈1 min + questions] Conclure sur les trois leçons. Q&amp;A probables : (1) « Ils n'ont pas fait de validation ? » : si, 0,97 sur 42 semaines, mais courte, et elle ne distingue pas grippe et saison. (2) « C'est la faute des médias ? » : hypothèse contestée par Lazer et al. (recherches « flu » au pic en 2009, seuls quelques termes montent en 2012-13). (3) « Un modèle non linéaire aurait-il sauvé GFT ? » : non, réseau de neurones testé, pas meilleur (MAE 0,236-0,249). (4) « Ta simulation prouve-t-elle que c'est arrivé ? » : non, elle montre que le mécanisme produit ce type d'erreur. (5) « Que faire aujourd'hui ? » : hybride, données de recherche + CDC retardé, recalibrage continu.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BB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1 · Pourquoi une étude célèbre s’est révélée fausse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Flu Trends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965960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BB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millions de requêtes, 1 152 points de données : à quelle étape l’analyse a déraillé, et ce qu’un analyste sceptique aurait vérifié.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577840" y="1051560"/>
            <a:ext cx="3108960" cy="1371600"/>
          </a:xfrm>
          <a:prstGeom prst="roundRect">
            <a:avLst>
              <a:gd name="adj" fmla="val 8000"/>
            </a:avLst>
          </a:prstGeom>
          <a:solidFill>
            <a:srgbClr val="16324F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5806440" y="11430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5FD4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0,97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5806440" y="187452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BB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corrélation en validation (Nature, 2009)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577840" y="2651760"/>
            <a:ext cx="3108960" cy="1371600"/>
          </a:xfrm>
          <a:prstGeom prst="roundRect">
            <a:avLst>
              <a:gd name="adj" fmla="val 8000"/>
            </a:avLst>
          </a:prstGeom>
          <a:solidFill>
            <a:srgbClr val="16324F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5806440" y="27432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8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2×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5806440" y="347472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BB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surestimation de la grippe en 2012-2013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L’idée : chercher la grippe avant les médecins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2651760" cy="1417320"/>
          </a:xfrm>
          <a:prstGeom prst="roundRect">
            <a:avLst>
              <a:gd name="adj" fmla="val 6452"/>
            </a:avLst>
          </a:prstGeom>
          <a:solidFill>
            <a:srgbClr val="EEF3F8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40080" y="13258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1–2 sem.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96596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d’avance sur le CDC (1 jour de retard contre 1–2 semaines)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46120" y="1234440"/>
            <a:ext cx="2651760" cy="1417320"/>
          </a:xfrm>
          <a:prstGeom prst="roundRect">
            <a:avLst>
              <a:gd name="adj" fmla="val 6452"/>
            </a:avLst>
          </a:prstGeom>
          <a:solidFill>
            <a:srgbClr val="EEF3F8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3429000" y="13258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 M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3429000" y="196596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requêtes candidates testées, une par une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35040" y="1234440"/>
            <a:ext cx="2651760" cy="1417320"/>
          </a:xfrm>
          <a:prstGeom prst="roundRect">
            <a:avLst>
              <a:gd name="adj" fmla="val 6452"/>
            </a:avLst>
          </a:prstGeom>
          <a:solidFill>
            <a:srgbClr val="EEF3F8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217920" y="13258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196596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requêtes retenues (liste jamais publiée)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926080"/>
            <a:ext cx="8229600" cy="1600200"/>
          </a:xfrm>
          <a:prstGeom prst="roundRect">
            <a:avLst>
              <a:gd name="adj" fmla="val 5714"/>
            </a:avLst>
          </a:prstGeom>
          <a:solidFill>
            <a:srgbClr val="0B1F3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31520" y="30175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logit(P) = β₀ + β₁ · logit(Q) + ε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365760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BB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: % de visites médicales pour syndrome grippal (CDC)   ·   Q : somme des fractions des 45 requêtes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BB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Régression linéaire à UNE seule variable : toute la difficulté est dans le choix des requêtes.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Deux échecs, deux mécanismes différents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874520"/>
            <a:ext cx="7498080" cy="0"/>
          </a:xfrm>
          <a:prstGeom prst="line">
            <a:avLst/>
          </a:prstGeom>
          <a:noFill/>
          <a:ln w="31750">
            <a:solidFill>
              <a:srgbClr val="BBD0E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0120" y="1645920"/>
            <a:ext cx="457200" cy="457200"/>
          </a:xfrm>
          <a:prstGeom prst="ellipse">
            <a:avLst/>
          </a:prstGeom>
          <a:solidFill>
            <a:srgbClr val="1F8A7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1430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2009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377440"/>
            <a:ext cx="1508760" cy="1417320"/>
          </a:xfrm>
          <a:prstGeom prst="roundRect">
            <a:avLst>
              <a:gd name="adj" fmla="val 5161"/>
            </a:avLst>
          </a:prstGeom>
          <a:solidFill>
            <a:srgbClr val="EEF3F8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548640" y="246888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H1N1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017520"/>
            <a:ext cx="1325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Sous-estimation : pandémie hors saison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606040" y="1645920"/>
            <a:ext cx="457200" cy="457200"/>
          </a:xfrm>
          <a:prstGeom prst="ellipse">
            <a:avLst/>
          </a:prstGeom>
          <a:solidFill>
            <a:srgbClr val="D9482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103120" y="11430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Juin 2011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103120" y="2377440"/>
            <a:ext cx="1508760" cy="1417320"/>
          </a:xfrm>
          <a:prstGeom prst="roundRect">
            <a:avLst>
              <a:gd name="adj" fmla="val 5161"/>
            </a:avLst>
          </a:prstGeom>
          <a:solidFill>
            <a:srgbClr val="EEF3F8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2194560" y="246888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Recherches associées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194560" y="3017520"/>
            <a:ext cx="1325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ajoute des suggestions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251960" y="1645920"/>
            <a:ext cx="457200" cy="457200"/>
          </a:xfrm>
          <a:prstGeom prst="ellipse">
            <a:avLst/>
          </a:prstGeom>
          <a:solidFill>
            <a:srgbClr val="D9482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749040" y="11430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Fév. 2012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749040" y="2377440"/>
            <a:ext cx="1508760" cy="1417320"/>
          </a:xfrm>
          <a:prstGeom prst="roundRect">
            <a:avLst>
              <a:gd name="adj" fmla="val 5161"/>
            </a:avLst>
          </a:prstGeom>
          <a:solidFill>
            <a:srgbClr val="EEF3F8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3840480" y="246888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Boîte santé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3840480" y="3017520"/>
            <a:ext cx="1325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Symptômes → diagnostics proposés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897880" y="1645920"/>
            <a:ext cx="457200" cy="457200"/>
          </a:xfrm>
          <a:prstGeom prst="ellipse">
            <a:avLst/>
          </a:prstGeom>
          <a:solidFill>
            <a:srgbClr val="D9482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394960" y="11430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2012–13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394960" y="2377440"/>
            <a:ext cx="1508760" cy="1417320"/>
          </a:xfrm>
          <a:prstGeom prst="roundRect">
            <a:avLst>
              <a:gd name="adj" fmla="val 5161"/>
            </a:avLst>
          </a:prstGeom>
          <a:solidFill>
            <a:srgbClr val="EEF3F8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5486400" y="246888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Surestimation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0" y="3017520"/>
            <a:ext cx="1325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le double du CDC (Butler, Nature 2013)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543800" y="1645920"/>
            <a:ext cx="457200" cy="457200"/>
          </a:xfrm>
          <a:prstGeom prst="ellipse">
            <a:avLst/>
          </a:prstGeom>
          <a:solidFill>
            <a:srgbClr val="5B6B7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040880" y="11430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040880" y="2377440"/>
            <a:ext cx="1508760" cy="1417320"/>
          </a:xfrm>
          <a:prstGeom prst="roundRect">
            <a:avLst>
              <a:gd name="adj" fmla="val 5161"/>
            </a:avLst>
          </a:prstGeom>
          <a:solidFill>
            <a:srgbClr val="EEF3F8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7132320" y="246888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Arrêt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7132320" y="3017520"/>
            <a:ext cx="1325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 de la publication publique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4343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Sous-estimation (2009) et surestimation (2012-13) n’ont pas la même cause : le modèle n’était pas seulement « trop optimiste ».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L’étape fautive : choisir 45 requêtes sur 50 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291840" cy="2788920"/>
          </a:xfrm>
          <a:prstGeom prst="roundRect">
            <a:avLst>
              <a:gd name="adj" fmla="val 3934"/>
            </a:avLst>
          </a:prstGeom>
          <a:solidFill>
            <a:srgbClr val="0B1F33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40080" y="13258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8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50 000 000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9659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BB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requêtes candidates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3774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BB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6517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5FD4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1 152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2918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BB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d’entraînement (128 semaines × 9 régions)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023360" y="1234440"/>
            <a:ext cx="384048" cy="384048"/>
          </a:xfrm>
          <a:prstGeom prst="ellipse">
            <a:avLst/>
          </a:prstGeom>
          <a:solidFill>
            <a:srgbClr val="D9482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02336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11887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1481328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requête testée seule ; classement par corrélation (450 M modèles).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023360" y="2194560"/>
            <a:ext cx="384048" cy="384048"/>
          </a:xfrm>
          <a:prstGeom prst="ellipse">
            <a:avLst/>
          </a:prstGeom>
          <a:solidFill>
            <a:srgbClr val="D9482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023360" y="2194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0" y="21488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0" y="2441448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autant de candidats, des séries sans rapport corrèlent par hasard, et d’autres suivent l’hiver plutôt que la grippe.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023360" y="3154680"/>
            <a:ext cx="384048" cy="384048"/>
          </a:xfrm>
          <a:prstGeom prst="ellipse">
            <a:avLst/>
          </a:prstGeom>
          <a:solidFill>
            <a:srgbClr val="D9482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023360" y="3154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0" y="31089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Indice ignoré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0" y="3401568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high school basketball » figurait dans le top 100 de l’article de 2009.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416052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EEF3F8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0080" y="41605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Corrélation ≠ mesure : ce qui compte, c’est que la relation reste vraie dans le temps.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Démo : le mécanisme en simulation</a:t>
            </a:r>
            <a:endParaRPr lang="en-US" sz="30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365760" y="1051560"/>
          <a:ext cx="502920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1"/>
          <p:cNvSpPr/>
          <p:nvPr/>
        </p:nvSpPr>
        <p:spPr>
          <a:xfrm>
            <a:off x="5623560" y="1097280"/>
            <a:ext cx="3063240" cy="960120"/>
          </a:xfrm>
          <a:prstGeom prst="roundRect">
            <a:avLst>
              <a:gd name="adj" fmla="val 7619"/>
            </a:avLst>
          </a:prstGeom>
          <a:solidFill>
            <a:srgbClr val="EEF3F8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5760720" y="1143000"/>
            <a:ext cx="1143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8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0,89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6903720" y="114300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corrélation du modèle en test : elle paraît excellente…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623560" y="2194560"/>
            <a:ext cx="3063240" cy="960120"/>
          </a:xfrm>
          <a:prstGeom prst="roundRect">
            <a:avLst>
              <a:gd name="adj" fmla="val 7619"/>
            </a:avLst>
          </a:prstGeom>
          <a:solidFill>
            <a:srgbClr val="EEF3F8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5760720" y="2240280"/>
            <a:ext cx="1143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94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 / 30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6903720" y="224028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graines où il fait pire que « la valeur d’il y a 2 semaines »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623560" y="3291840"/>
            <a:ext cx="3063240" cy="960120"/>
          </a:xfrm>
          <a:prstGeom prst="roundRect">
            <a:avLst>
              <a:gd name="adj" fmla="val 7619"/>
            </a:avLst>
          </a:prstGeom>
          <a:solidFill>
            <a:srgbClr val="EEF3F8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5760720" y="3337560"/>
            <a:ext cx="1143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94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×2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6903720" y="333756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erreur sur l’épidémie hors saison, ratée par les détecteurs d’hiver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pédagogique, pas les données de Google : paramètres arbitraires (voir notebook).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qu’un analyste sceptique aurait vérifié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651760" cy="1508760"/>
          </a:xfrm>
          <a:prstGeom prst="roundRect">
            <a:avLst>
              <a:gd name="adj" fmla="val 6061"/>
            </a:avLst>
          </a:prstGeom>
          <a:solidFill>
            <a:srgbClr val="EEF3F8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94360" y="1325880"/>
            <a:ext cx="365760" cy="365760"/>
          </a:xfrm>
          <a:prstGeom prst="ellipse">
            <a:avLst/>
          </a:prstGeom>
          <a:solidFill>
            <a:srgbClr val="1F8A7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94360" y="1325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29844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 candidats / données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82880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M pour 1 152 points : fausses corrélations quasi garanties.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46120" y="1188720"/>
            <a:ext cx="2651760" cy="1508760"/>
          </a:xfrm>
          <a:prstGeom prst="roundRect">
            <a:avLst>
              <a:gd name="adj" fmla="val 6061"/>
            </a:avLst>
          </a:prstGeom>
          <a:solidFill>
            <a:srgbClr val="EEF3F8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83280" y="1325880"/>
            <a:ext cx="365760" cy="365760"/>
          </a:xfrm>
          <a:prstGeom prst="ellipse">
            <a:avLst/>
          </a:prstGeom>
          <a:solidFill>
            <a:srgbClr val="1F8A7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383280" y="1325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840480" y="129844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Sanity check du top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429000" y="182880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Basketball » = détecteur d’hiver. Que reste-t-il si on l’écarte ?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035040" y="1188720"/>
            <a:ext cx="2651760" cy="1508760"/>
          </a:xfrm>
          <a:prstGeom prst="roundRect">
            <a:avLst>
              <a:gd name="adj" fmla="val 6061"/>
            </a:avLst>
          </a:prstGeom>
          <a:solidFill>
            <a:srgbClr val="EEF3F8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72200" y="1325880"/>
            <a:ext cx="365760" cy="365760"/>
          </a:xfrm>
          <a:prstGeom prst="ellipse">
            <a:avLst/>
          </a:prstGeom>
          <a:solidFill>
            <a:srgbClr val="1F8A7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172200" y="1325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629400" y="129844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simple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0" y="182880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 décalé + saison bat GFT ; combiné : MAE 0,486 → 0,303 (−38 %).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2880360"/>
            <a:ext cx="2651760" cy="1508760"/>
          </a:xfrm>
          <a:prstGeom prst="roundRect">
            <a:avLst>
              <a:gd name="adj" fmla="val 6061"/>
            </a:avLst>
          </a:prstGeom>
          <a:solidFill>
            <a:srgbClr val="EEF3F8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94360" y="3017520"/>
            <a:ext cx="365760" cy="365760"/>
          </a:xfrm>
          <a:prstGeom prst="ellipse">
            <a:avLst/>
          </a:prstGeom>
          <a:solidFill>
            <a:srgbClr val="1F8A7D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94360" y="3017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051560" y="299008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Résidus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52044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Erreurs de GFT très autocorrélées : donc prévisibles.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246120" y="2880360"/>
            <a:ext cx="2651760" cy="1508760"/>
          </a:xfrm>
          <a:prstGeom prst="roundRect">
            <a:avLst>
              <a:gd name="adj" fmla="val 6061"/>
            </a:avLst>
          </a:prstGeom>
          <a:solidFill>
            <a:srgbClr val="EEF3F8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383280" y="3017520"/>
            <a:ext cx="365760" cy="365760"/>
          </a:xfrm>
          <a:prstGeom prst="ellipse">
            <a:avLst/>
          </a:prstGeom>
          <a:solidFill>
            <a:srgbClr val="1F8A7D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3383280" y="3017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3840480" y="299008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Stabilité dans le temps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3429000" y="352044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glissante ; suivi des changements du moteur.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035040" y="2880360"/>
            <a:ext cx="2651760" cy="1508760"/>
          </a:xfrm>
          <a:prstGeom prst="roundRect">
            <a:avLst>
              <a:gd name="adj" fmla="val 6061"/>
            </a:avLst>
          </a:prstGeom>
          <a:solidFill>
            <a:srgbClr val="EEF3F8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172200" y="3017520"/>
            <a:ext cx="365760" cy="365760"/>
          </a:xfrm>
          <a:prstGeom prst="ellipse">
            <a:avLst/>
          </a:prstGeom>
          <a:solidFill>
            <a:srgbClr val="1F8A7D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172200" y="3017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6629400" y="299008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Reproductibilité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6217920" y="352044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45 requêtes n’ont jamais été publiées.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À retenir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457200" cy="457200"/>
          </a:xfrm>
          <a:prstGeom prst="ellipse">
            <a:avLst/>
          </a:prstGeom>
          <a:solidFill>
            <a:srgbClr val="D9482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18872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Beaucoup de données ≠ bonne mesure (« Big Data Hubris »).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457200" cy="457200"/>
          </a:xfrm>
          <a:prstGeom prst="ellipse">
            <a:avLst/>
          </a:prstGeom>
          <a:solidFill>
            <a:srgbClr val="D9482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224028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moteur de recherche modifie ce qu’il mesure.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57200" y="3337560"/>
            <a:ext cx="457200" cy="457200"/>
          </a:xfrm>
          <a:prstGeom prst="ellipse">
            <a:avLst/>
          </a:prstGeom>
          <a:solidFill>
            <a:srgbClr val="D9482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720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329184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Battre une baseline simple avant de publier.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846320" y="457200"/>
            <a:ext cx="3840480" cy="3931920"/>
          </a:xfrm>
          <a:prstGeom prst="roundRect">
            <a:avLst>
              <a:gd name="adj" fmla="val 2857"/>
            </a:avLst>
          </a:prstGeom>
          <a:solidFill>
            <a:srgbClr val="16324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029200" y="56692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et limites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029200" y="1005840"/>
            <a:ext cx="3474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9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Ginsberg et al., Nature 457 (2009). </a:t>
            </a:r>
            <a:r>
              <a:rPr lang="en-US" sz="1300" dirty="0">
                <a:solidFill>
                  <a:srgbClr val="BB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Auteurs Google : intérêt à réussir, mais mises en garde honnêtes.</a:t>
            </a:r>
            <a:endParaRPr lang="en-US" sz="13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Lazer, Kennedy, King, Vespignani, Science 343 (2014) + supplément. </a:t>
            </a:r>
            <a:r>
              <a:rPr lang="en-US" sz="1300" dirty="0">
                <a:solidFill>
                  <a:srgbClr val="BB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Critique solide ; sans accès aux 45 requêtes, leurs causes sont probables, non prouvées.</a:t>
            </a:r>
            <a:endParaRPr lang="en-US" sz="13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Butler, Nature 494 (2013). </a:t>
            </a:r>
            <a:r>
              <a:rPr lang="en-US" sz="1300" dirty="0">
                <a:solidFill>
                  <a:srgbClr val="BB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 d’actualité (chiffre « ≈ double »).</a:t>
            </a:r>
            <a:endParaRPr lang="en-US" sz="13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: </a:t>
            </a:r>
            <a:r>
              <a:rPr lang="en-US" sz="1300" dirty="0">
                <a:solidFill>
                  <a:srgbClr val="BB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simulation, pas les données de Google.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1544</Words>
  <Application>Microsoft Office PowerPoint</Application>
  <PresentationFormat>Affichage à l'écran (16:9)</PresentationFormat>
  <Paragraphs>104</Paragraphs>
  <Slides>7</Slides>
  <Notes>7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Cambria</vt:lpstr>
      <vt:lpstr>Courier New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Google Flu Trends : pourquoi une étude célèbre était fausse</dc:title>
  <dc:subject>Étude de cas : analyste sceptique</dc:subject>
  <dc:creator>PptxGenJS</dc:creator>
  <cp:lastModifiedBy/>
  <cp:revision>1</cp:revision>
  <dcterms:created xsi:type="dcterms:W3CDTF">2026-09-29T18:50:40Z</dcterms:created>
  <dcterms:modified xsi:type="dcterms:W3CDTF">2026-09-29T18:57:52Z</dcterms:modified>
</cp:coreProperties>
</file>