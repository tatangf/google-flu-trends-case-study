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166" autoAdjust="0"/>
  </p:normalViewPr>
  <p:slideViewPr>
    <p:cSldViewPr snapToGrid="0" snapToObjects="1">
      <p:cViewPr varScale="1">
        <p:scale>
          <a:sx n="36" d="100"/>
          <a:sy n="36" d="100"/>
        </p:scale>
        <p:origin x="131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324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6324F"/>
                </a:solidFill>
                <a:latin typeface="Arial"/>
              </a:rPr>
              <a:t>Mean absolute error (MAE), 30 seeds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GFT-type (static)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Full test</c:v>
                </c:pt>
                <c:pt idx="1">
                  <c:v>Epidemic window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0.14000000000000001</c:v>
                </c:pt>
                <c:pt idx="1">
                  <c:v>0.40899999999999997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F8-422D-870D-A839F431F3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 from 2 weeks ago</c:v>
                </c:pt>
              </c:strCache>
            </c:strRef>
          </c:tx>
          <c:spPr>
            <a:solidFill>
              <a:srgbClr val="5B6B7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Full test</c:v>
                </c:pt>
                <c:pt idx="1">
                  <c:v>Epidemic window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0.126</c:v>
                </c:pt>
                <c:pt idx="1">
                  <c:v>0.20799999999999999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F8-422D-870D-A839F431F3D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GFT + lagged CDC, recalibrated</c:v>
                </c:pt>
              </c:strCache>
            </c:strRef>
          </c:tx>
          <c:spPr>
            <a:solidFill>
              <a:srgbClr val="1F8A7D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Full test</c:v>
                </c:pt>
                <c:pt idx="1">
                  <c:v>Epidemic window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9.9000000000000005E-2</c:v>
                </c:pt>
                <c:pt idx="1">
                  <c:v>0.254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F8-422D-870D-A839F431F3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32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majorGridlines>
          <c:spPr>
            <a:ln w="6350" cap="flat">
              <a:solidFill>
                <a:srgbClr val="E1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622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[≈1 min] Hook: in 2009 Google published a model in Nature that predicts flu with a correlation of 0.97. In 2012-2013 it overestimates by roughly double. Nobody was cheating. My question: at exactly which step did the analysis go off the rails? Plan: the model, the failure, the faulty step, a demo,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[≈2 min] The CDC publishes with a 1-2 week delay; Google queries are available in near real time. Model: linear regression on the logit scale (a transformation that maps a proportion onto an unbounded domain). A single variable Q = sum of the 45 best queries. Stress this: the model is simple, and selecting 45 out of 50 million is the step that matters. 2009 results: correlation 0.90 on training data, 0.97 on 42 weeks of validation. The authors already warned about media panics and false alarms.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[≈2 min] Two distinct failures. 2009: the H1N1 pandemic arrives off-season and the model (which had learned winter) misses it; Google revises the algorithm in September 2009. 2012-13: persistent overestimation since summer 2011. The Science supplement (Lazer et al.) links this to changes in the search engine: related searches (June 2011), health search box (February 2012), drug information cards (Nov. 2012), geolocation (July 2011). They speak of “blue team dynamics”: Google changes the behavior it is measuring. Caution: without the 45 queries, these are PROBABLE explanations. Nuance: the “media panic” explanation is disputed: “flu” searches peaked in 2009, and only a few specific terms rose in 2012-13. The “≈ double” figure and the 2015 shutdown come from Butler (Nature 2013) and from my general knowledge, not from the files provided: check them before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[≈3 min] This is THE answer to the assignment: the faulty step is the automatic selection of queries by correlation. Each query is fitted on its own and the best are kept (Fisher transformation, 4-fold cross-validation), with N=45 chosen on out-of-sample data. 450 million models. The risk: the multiple-comparisons problem. Watch the nuance: the 2009 out-of-sample validation did exist (0.97), so the error is not “no test”; it is a test over a short period (42 weeks) that cannot reveal later drift nor tell “flu” apart from “winter season”. Clue: high school basketball in the top 100, and the authors knew. Lazer et al. could not recover the 45 queries: reproducibility is impossible.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[≈4 min, live demo of the notebook gft_simulation_en.ipynb, ~30 s to run] 1) Show the “max correlation of a pure-noise series” curve: it rises with the number of candidates (0.31 for 10, 0.56 for 50,000). 2) Show the histogram: the “winter” queries (unrelated to flu) correlate more than noise; the top 20 contains on average 4.4 true flu queries out of 20 and 0 pure noise (honesty: in my simulation it is seasonality, not noise, that contaminates). 3) Prediction chart: the static model misses the summer epidemic. 4) The 30-seed table: correlation 0.89 but MAE 0.140 versus 0.126 for the value from 2 weeks ago (worse in 25/30 seeds). The recalibrated model is better over the whole test set (30/30) but NOT on the epidemic window (0.254 versus 0.208): say so. 5) Drift: x1.0 → MAE 0.103; x1.5 → 0.142; x2 → 0.234, the recalibrated model stays around 0.09-0.10. Limit: drift is an assumption, not a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[≈2 min] These are the concrete checks. Figures 0.486 / 0.412 / 0.303: Science supplement §6, 3-week lag. The neural network tested by Lazer et al. (MAE 0.236-0.249) does no better than the linear model: the problem was not the shape of the model but the stability of the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[≈1 min + questions] Close on the three lessons. Likely Q&amp;A: (1) “Didn't they validate?”: yes, 0.97 over 42 weeks, but short, and it does not separate flu from season. (2) “Is it the media's fault?”: a hypothesis disputed by Lazer et al. (“flu” searches peaked in 2009, only a few terms rise in 2012-13). (3) “Would a non-linear model have saved GFT?”: no, a neural network was tested, and was not better (MAE 0.236-0.249). (4) “Does your simulation prove it happened?”: no, it shows that the mechanism produces this kind of error. (5) “What should we do today?”: a hybrid, search data + lagged CDC, with continuous recalibration.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· Why a famous study turned out to be wrong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Flu Trends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659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million search queries, 1,152 data points: where the analysis went off the rails, and what a skeptical analyst would have checked.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577840" y="10515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6324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806440" y="1143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FD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1874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on validation data (Nature, 2009)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26517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6324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806440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2×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 overestimated in 2012–2013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idea: spot the flu before the doctors 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 wks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of the CDC (1-day lag vs. 1–2 weeks)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2900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M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queries, each tested one by 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kept (list never published)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1600200"/>
          </a:xfrm>
          <a:prstGeom prst="roundRect">
            <a:avLst>
              <a:gd name="adj" fmla="val 5714"/>
            </a:avLst>
          </a:prstGeom>
          <a:solidFill>
            <a:srgbClr val="0B1F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logit(P) = β₀ + β₁ · logit(Q) + ε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657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% of doctor visits for influenza-like illness (CDC)   ·   Q: summed fractions of the 45 queries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with ONE variable: all the difficulty lies in choosing the queries.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failures, two different mechanisms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7498080" cy="0"/>
          </a:xfrm>
          <a:prstGeom prst="line">
            <a:avLst/>
          </a:prstGeom>
          <a:noFill/>
          <a:ln w="31750">
            <a:solidFill>
              <a:srgbClr val="BBD0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645920"/>
            <a:ext cx="457200" cy="457200"/>
          </a:xfrm>
          <a:prstGeom prst="ellipse">
            <a:avLst/>
          </a:prstGeom>
          <a:solidFill>
            <a:srgbClr val="1F8A7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H1N1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Underestimate: off-season pandemic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645920"/>
            <a:ext cx="457200" cy="457200"/>
          </a:xfrm>
          <a:prstGeom prst="ellipse">
            <a:avLst/>
          </a:prstGeom>
          <a:solidFill>
            <a:srgbClr val="D948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2011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2377440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194560" y="2468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searches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adds search suggestions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51960" y="1645920"/>
            <a:ext cx="457200" cy="457200"/>
          </a:xfrm>
          <a:prstGeom prst="ellipse">
            <a:avLst/>
          </a:prstGeom>
          <a:solidFill>
            <a:srgbClr val="D948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904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Feb. 2012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2377440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840480" y="2468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box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→ suggested diagnoses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97880" y="1645920"/>
            <a:ext cx="457200" cy="457200"/>
          </a:xfrm>
          <a:prstGeom prst="ellipse">
            <a:avLst/>
          </a:prstGeom>
          <a:solidFill>
            <a:srgbClr val="D948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2012–13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94960" y="2377440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486400" y="2468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Overestimate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double the CDC (Butler, Nature 2013)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43800" y="1645920"/>
            <a:ext cx="457200" cy="457200"/>
          </a:xfrm>
          <a:prstGeom prst="ellipse">
            <a:avLst/>
          </a:prstGeom>
          <a:solidFill>
            <a:srgbClr val="5B6B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40880" y="2377440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132320" y="2468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estimates stop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2009 underestimate and the 2012–13 overestimate have different causes: the model was not simply “too optimistic.”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faulty step: picking 45 queries out of 50 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91840" cy="2788920"/>
          </a:xfrm>
          <a:prstGeom prst="roundRect">
            <a:avLst>
              <a:gd name="adj" fmla="val 3934"/>
            </a:avLst>
          </a:prstGeom>
          <a:solidFill>
            <a:srgbClr val="0B1F33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50,000,000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queries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FD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1,152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points (128 weeks × 9 regions)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23360" y="1234440"/>
            <a:ext cx="384048" cy="384048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0233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4813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query fitted on its own; ranked by correlation (450 M models).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23360" y="2194560"/>
            <a:ext cx="384048" cy="384048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0233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4414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that many candidates, unrelated series correlate by chance, and others track winter rather than flu.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23360" y="3154680"/>
            <a:ext cx="384048" cy="384048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0233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clue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40156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“high school basketball” appeared in the top 100 of the 2009 paper.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measurement: what matters is that the relationship stays true over time.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the mechanism in simulation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5156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623560" y="109728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760720" y="114300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11430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correlation on test data: it looks excellent…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23560" y="219456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760720" y="224028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/ 30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22402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where it does worse than “the value from 2 weeks ago”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23560" y="329184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760720" y="333756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33375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during the off-season epidemic, missed by the winter detectors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simulation, not Google’s data: arbitrary parameters (see notebook).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skeptical analyst would have checked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rgbClr val="1F8A7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Candidates-to-data ratio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 for 1,152 points: spurious correlations nearly guaranteed.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325880"/>
            <a:ext cx="365760" cy="365760"/>
          </a:xfrm>
          <a:prstGeom prst="ellipse">
            <a:avLst/>
          </a:prstGeom>
          <a:solidFill>
            <a:srgbClr val="1F8A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 the top hits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“Basketball” = winter detector. What is left if you drop it?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325880"/>
            <a:ext cx="365760" cy="365760"/>
          </a:xfrm>
          <a:prstGeom prst="ellipse">
            <a:avLst/>
          </a:prstGeom>
          <a:solidFill>
            <a:srgbClr val="1F8A7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baseline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CDC + seasonality beats GFT; combined: MAE 0.486 → 0.303 (−38%).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017520"/>
            <a:ext cx="365760" cy="365760"/>
          </a:xfrm>
          <a:prstGeom prst="ellipse">
            <a:avLst/>
          </a:prstGeom>
          <a:solidFill>
            <a:srgbClr val="1F8A7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990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GFT’s errors are highly autocorrelated: hence predictable.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28803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3017520"/>
            <a:ext cx="365760" cy="365760"/>
          </a:xfrm>
          <a:prstGeom prst="ellipse">
            <a:avLst/>
          </a:prstGeom>
          <a:solidFill>
            <a:srgbClr val="1F8A7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3832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2990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over time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validation; track changes to the search engine.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28803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3017520"/>
            <a:ext cx="365760" cy="365760"/>
          </a:xfrm>
          <a:prstGeom prst="ellipse">
            <a:avLst/>
          </a:prstGeom>
          <a:solidFill>
            <a:srgbClr val="1F8A7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722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2990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45 queries were never published.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≠ a better measurement (“Big Data Hubris”).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engine changes what it measures.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57200" cy="457200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291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a simple baseline before publishing.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46320" y="457200"/>
            <a:ext cx="3840480" cy="3931920"/>
          </a:xfrm>
          <a:prstGeom prst="roundRect">
            <a:avLst>
              <a:gd name="adj" fmla="val 2857"/>
            </a:avLst>
          </a:prstGeom>
          <a:solidFill>
            <a:srgbClr val="1632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0" y="566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and limits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100584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Ginsberg et al., Nature 457 (2009). </a:t>
            </a:r>
            <a:r>
              <a:rPr lang="en-US" sz="13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authors: an interest in success, but honest caveats.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Lazer, Kennedy, King, Vespignani, Science 343 (2014) + supplement. </a:t>
            </a:r>
            <a:r>
              <a:rPr lang="en-US" sz="13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critique; without access to the 45 queries, their causes are probable, not proven.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Butler, Nature 494 (2013). </a:t>
            </a:r>
            <a:r>
              <a:rPr lang="en-US" sz="13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 (source of the “≈ double” figure).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</a:t>
            </a:r>
            <a:r>
              <a:rPr lang="en-US" sz="1300" dirty="0">
                <a:solidFill>
                  <a:srgbClr val="BB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simulation, not Google’s data.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1544</Words>
  <Application>Microsoft Office PowerPoint</Application>
  <PresentationFormat>Affichage à l'écran (16:9)</PresentationFormat>
  <Paragraphs>104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Flu Trends: why a famous study was wrong</dc:title>
  <dc:subject>Skeptical-analyst case study</dc:subject>
  <dc:creator>PptxGenJS</dc:creator>
  <cp:lastModifiedBy/>
  <cp:revision>1</cp:revision>
  <dcterms:created xsi:type="dcterms:W3CDTF">2026-09-29T18:50:40Z</dcterms:created>
  <dcterms:modified xsi:type="dcterms:W3CDTF">2026-09-29T18:57:52Z</dcterms:modified>
</cp:coreProperties>
</file>